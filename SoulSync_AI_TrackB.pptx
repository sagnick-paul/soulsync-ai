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79492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457200"/>
            <a:ext cx="3474720" cy="3474720"/>
          </a:xfrm>
          <a:prstGeom prst="ellipse">
            <a:avLst/>
          </a:prstGeom>
          <a:solidFill>
            <a:srgbClr val="00C9B1">
              <a:alpha val="12000"/>
            </a:srgbClr>
          </a:solidFill>
          <a:ln w="1524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914400"/>
            <a:ext cx="2560320" cy="2560320"/>
          </a:xfrm>
          <a:prstGeom prst="ellipse">
            <a:avLst/>
          </a:prstGeom>
          <a:solidFill>
            <a:srgbClr val="00C9B1">
              <a:alpha val="6000"/>
            </a:srgbClr>
          </a:solidFill>
          <a:ln w="1016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0C9B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OpenAImer · Track 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SoulSync AI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0E5CC"/>
                </a:solidFill>
              </a:rPr>
              <a:t>Emotionally Intelligent Conversational AI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AFC7"/>
                </a:solidFill>
              </a:rPr>
              <a:t>A multi-layer mental health support chatbot with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AFC7"/>
                </a:solidFill>
              </a:rPr>
              <a:t>semantic retrieval, emotional signal detection,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AFC7"/>
                </a:solidFill>
              </a:rPr>
              <a:t>risk escalation, and hyper-personalised responses.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</a:rPr>
              <a:t>Powered by Gemini 2.5 Flash  ·  LangChain  ·  FAISS  ·  PRAW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C7"/>
                </a:solidFill>
              </a:rPr>
              <a:t>End-to-end pipeline for every user message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143000"/>
            <a:ext cx="1152144" cy="1005840"/>
          </a:xfrm>
          <a:prstGeom prst="rect">
            <a:avLst/>
          </a:prstGeom>
          <a:solidFill>
            <a:srgbClr val="162535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143000"/>
            <a:ext cx="1152144" cy="164592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344168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16916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Message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44168" y="1645920"/>
            <a:ext cx="109728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1143000"/>
            <a:ext cx="1152144" cy="1005840"/>
          </a:xfrm>
          <a:prstGeom prst="rect">
            <a:avLst/>
          </a:prstGeom>
          <a:solidFill>
            <a:srgbClr val="162535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08176" y="1143000"/>
            <a:ext cx="1152144" cy="16459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1408176" y="1344168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08176" y="16916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9464" y="1645920"/>
            <a:ext cx="109728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143000"/>
            <a:ext cx="1152144" cy="1005840"/>
          </a:xfrm>
          <a:prstGeom prst="rect">
            <a:avLst/>
          </a:prstGeom>
          <a:solidFill>
            <a:srgbClr val="162535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1143000"/>
            <a:ext cx="1152144" cy="1645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2633472" y="1344168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633472" y="16916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Entity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1645920"/>
            <a:ext cx="109728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58768" y="1143000"/>
            <a:ext cx="1152144" cy="1005840"/>
          </a:xfrm>
          <a:prstGeom prst="rect">
            <a:avLst/>
          </a:prstGeom>
          <a:solidFill>
            <a:srgbClr val="162535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58768" y="1143000"/>
            <a:ext cx="1152144" cy="1645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3858768" y="1344168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58768" y="16916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0056" y="1645920"/>
            <a:ext cx="109728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4064" y="1143000"/>
            <a:ext cx="1152144" cy="1005840"/>
          </a:xfrm>
          <a:prstGeom prst="rect">
            <a:avLst/>
          </a:prstGeom>
          <a:solidFill>
            <a:srgbClr val="162535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84064" y="1143000"/>
            <a:ext cx="1152144" cy="16459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1344168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84064" y="16916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Emotion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5352" y="1645920"/>
            <a:ext cx="109728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143000"/>
            <a:ext cx="1152144" cy="1005840"/>
          </a:xfrm>
          <a:prstGeom prst="rect">
            <a:avLst/>
          </a:prstGeom>
          <a:solidFill>
            <a:srgbClr val="162535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143000"/>
            <a:ext cx="1152144" cy="164592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1344168"/>
            <a:ext cx="1152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09360" y="1691640"/>
            <a:ext cx="1152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377440"/>
            <a:ext cx="4160520" cy="23774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377440"/>
            <a:ext cx="64008" cy="237744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4505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CC"/>
                </a:solidFill>
              </a:rPr>
              <a:t>Knowledge Base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8912" y="2834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BAFC7"/>
                </a:solidFill>
              </a:rPr>
              <a:t>HuggingFace counselling dataset + Reddit PRAW scraping → 500+ curated documents chunked and embedded into FAISS vector store.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2377440"/>
            <a:ext cx="4160520" cy="237744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377440"/>
            <a:ext cx="64008" cy="237744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0" name="Text 38"/>
          <p:cNvSpPr/>
          <p:nvPr/>
        </p:nvSpPr>
        <p:spPr>
          <a:xfrm>
            <a:off x="4873752" y="24505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CC"/>
                </a:solidFill>
              </a:rPr>
              <a:t>Personalisation Layer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73752" y="2834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8BAFC7"/>
                </a:solidFill>
              </a:rPr>
              <a:t>User profile tracks emotions, patterns, entities (parents / exams / friends). Recent 3-turn memory window keeps responses contextually grounded.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</a:rPr>
              <a:t>Architecture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C7"/>
                </a:solidFill>
              </a:rPr>
              <a:t>What makes SoulSync different from a basic chatbot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697480" cy="150876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97280"/>
            <a:ext cx="26974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207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🎯  Emotion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FC7"/>
                </a:solidFill>
              </a:rPr>
              <a:t>Separate LLM pass extracts emotion, hidden meaning &amp; core conflict before generating any reply — responses always address root cause, not surface words.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08376" y="1097280"/>
            <a:ext cx="2697480" cy="150876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08376" y="1097280"/>
            <a:ext cx="26974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1" name="Text 9"/>
          <p:cNvSpPr/>
          <p:nvPr/>
        </p:nvSpPr>
        <p:spPr>
          <a:xfrm>
            <a:off x="3145536" y="1207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🛡️  Two-Tier Safety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45536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FC7"/>
                </a:solidFill>
              </a:rPr>
              <a:t>High-risk keywords trigger immediate crisis escalation. Early-risk signals ("I'm useless", "nothing matters") trigger gentle check-ins before distress escalates.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15584" y="1097280"/>
            <a:ext cx="2697480" cy="150876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15584" y="1097280"/>
            <a:ext cx="26974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5" name="Text 13"/>
          <p:cNvSpPr/>
          <p:nvPr/>
        </p:nvSpPr>
        <p:spPr>
          <a:xfrm>
            <a:off x="5952744" y="12070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🧩  Entity Memory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FC7"/>
                </a:solidFill>
              </a:rPr>
              <a:t>Tracks named entities (parents, exams, friends) across turns. Pronouns like "he" or "that incident" resolve correctly mid-conversation.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2743200"/>
            <a:ext cx="2697480" cy="150876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43200"/>
            <a:ext cx="26974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" y="28529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📚  Semantic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2004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FC7"/>
                </a:solidFill>
              </a:rPr>
              <a:t>FAISS retrieves top-2 grounding documents per message from 500+ real mental-health counselling texts, keeping responses factually grounded.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08376" y="2743200"/>
            <a:ext cx="2697480" cy="150876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08376" y="2743200"/>
            <a:ext cx="26974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3" name="Text 21"/>
          <p:cNvSpPr/>
          <p:nvPr/>
        </p:nvSpPr>
        <p:spPr>
          <a:xfrm>
            <a:off x="3145536" y="28529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🚫  Anti-Generic Filter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145536" y="32004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FC7"/>
                </a:solidFill>
              </a:rPr>
              <a:t>Post-generation filter strips clichés ("I understand", "I'm sorry"). Any response failing the check is cleaned before the user sees it.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15584" y="2743200"/>
            <a:ext cx="2697480" cy="1508760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15584" y="2743200"/>
            <a:ext cx="26974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7" name="Text 25"/>
          <p:cNvSpPr/>
          <p:nvPr/>
        </p:nvSpPr>
        <p:spPr>
          <a:xfrm>
            <a:off x="5952744" y="285292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</a:rPr>
              <a:t>👤  User Profile Builder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52744" y="32004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BAFC7"/>
                </a:solidFill>
              </a:rPr>
              <a:t>Running profile accumulates emotion patterns, avoidance signals, and stress flags — enabling hyper-personalised responses from turn 1 onwards.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</a:rPr>
              <a:t>Feature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Conversation &amp; Rubric Alignment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663440" cy="4041648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663440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Sample Conversation Excerpt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</a:rPr>
              <a:t>👤 User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E5CC"/>
                </a:solidFill>
              </a:rPr>
              <a:t>I just can't be bothered anymore. I used to love going out.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🤖 Bot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That shift from someone who genuinely enjoyed things to someone who can't find a reason to get up — that's not laziness. Something heavier is sitting on you.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25786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</a:rPr>
              <a:t>👤 User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761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E5CC"/>
                </a:solidFill>
              </a:rPr>
              <a:t>My exams didn't go well. I just feel like I let everyone down.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323697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🤖 Bot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4198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You were carrying two very different kinds of weight: pressure to perform and watching something at home fall apart. Somewhere in that, you started holding yourself responsible for both.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895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CC"/>
                </a:solidFill>
              </a:rPr>
              <a:t>👤 User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40782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E5CC"/>
                </a:solidFill>
              </a:rPr>
              <a:t>I skipped a few lectures. It's whatever.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45537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</a:rPr>
              <a:t>🤖 Bot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47365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'It's whatever' is doing a lot of work there — skipping things you used to show up for. What thought goes through your head right before you decide not to go?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66360" y="822960"/>
            <a:ext cx="3749040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822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</a:rPr>
              <a:t>Judging Rubric Coverage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66360" y="1261872"/>
            <a:ext cx="374904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66360" y="1261872"/>
            <a:ext cx="658368" cy="65836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261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9788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Emotional Inference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97880" y="15819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7"/>
                </a:solidFill>
              </a:rPr>
              <a:t>Detects surface vs. root cause; avoids mislabelling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66360" y="2011680"/>
            <a:ext cx="374904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66360" y="2011680"/>
            <a:ext cx="658368" cy="65836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Memory &amp; Continuity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97880" y="23317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7"/>
                </a:solidFill>
              </a:rPr>
              <a:t>Entity + profile tracking across all turns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66360" y="2761488"/>
            <a:ext cx="374904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66360" y="2761488"/>
            <a:ext cx="658368" cy="65836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2761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20%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97880" y="2807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Safety &amp; Grounding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897880" y="3081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7"/>
                </a:solidFill>
              </a:rPr>
              <a:t>2-tier risk check; FAISS-grounded replies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66360" y="3511296"/>
            <a:ext cx="374904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66360" y="3511296"/>
            <a:ext cx="658368" cy="65836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5112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15%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97880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Actionability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897880" y="38313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7"/>
                </a:solidFill>
              </a:rPr>
              <a:t>Precise follow-up questions, not platitudes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66360" y="4261104"/>
            <a:ext cx="3749040" cy="658368"/>
          </a:xfrm>
          <a:prstGeom prst="rect">
            <a:avLst/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66360" y="4261104"/>
            <a:ext cx="658368" cy="65836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42611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10%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97880" y="4306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UI &amp; Demo Quality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897880" y="45811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7"/>
                </a:solidFill>
              </a:rPr>
              <a:t>Streamlit UI — fast, stable live demo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</a:rPr>
              <a:t>Conversation Quality &amp; Scoring Alignment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 Stack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023360" cy="356616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023360" cy="36576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⚙️  Technology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396849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801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2801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Gemini 2.5 Flash (gemini-2.5-flash)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" y="1664208"/>
            <a:ext cx="39684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664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6642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Google gemini-embedding-001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048256"/>
            <a:ext cx="396849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0482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Vector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048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FAISS (LangChain community)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432304"/>
            <a:ext cx="39684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4323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Framework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4323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LangChain + Python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2816352"/>
            <a:ext cx="396849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8163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HuggingFace · Reddit PRAW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" y="3200400"/>
            <a:ext cx="39684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200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Dataset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200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Amod/mental_health_counseling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3584448"/>
            <a:ext cx="396849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5844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Safety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584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Keyword risk detection (2 tiers)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3968496"/>
            <a:ext cx="39684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968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</a:rPr>
              <a:t>Memory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3968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FC7"/>
                </a:solidFill>
              </a:rPr>
              <a:t>Sliding window + entity list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0" y="822960"/>
            <a:ext cx="4343400" cy="3566160"/>
          </a:xfrm>
          <a:prstGeom prst="rect">
            <a:avLst/>
          </a:prstGeom>
          <a:solidFill>
            <a:srgbClr val="1B2A3B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822960"/>
            <a:ext cx="4343400" cy="365760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</a:rPr>
              <a:t>🚀  Improvements In Progress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99432" y="1280160"/>
            <a:ext cx="428853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1353312"/>
            <a:ext cx="201168" cy="20116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1280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FAISS knowledge base (500+ docs)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99432" y="1664208"/>
            <a:ext cx="428853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1737360"/>
            <a:ext cx="201168" cy="20116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2-tier risk detection &amp; escalation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99432" y="2048256"/>
            <a:ext cx="428853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2121408"/>
            <a:ext cx="201168" cy="20116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20482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Emotion analysis sub-call pipeline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99432" y="2432304"/>
            <a:ext cx="428853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0" y="2505456"/>
            <a:ext cx="201168" cy="201168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432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Entity tracking (parents / exams)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99432" y="2816352"/>
            <a:ext cx="428853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2889504"/>
            <a:ext cx="201168" cy="20116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816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</a:rPr>
              <a:t>Persistent structured user memory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99432" y="3200400"/>
            <a:ext cx="428853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0" name="Shape 48"/>
          <p:cNvSpPr/>
          <p:nvPr/>
        </p:nvSpPr>
        <p:spPr>
          <a:xfrm>
            <a:off x="4663440" y="3273552"/>
            <a:ext cx="201168" cy="20116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</a:rPr>
              <a:t>Streamlit / web UI for live demo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99432" y="3584448"/>
            <a:ext cx="4288536" cy="347472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53" name="Shape 51"/>
          <p:cNvSpPr/>
          <p:nvPr/>
        </p:nvSpPr>
        <p:spPr>
          <a:xfrm>
            <a:off x="4663440" y="3657600"/>
            <a:ext cx="201168" cy="20116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4" name="Text 52"/>
          <p:cNvSpPr/>
          <p:nvPr/>
        </p:nvSpPr>
        <p:spPr>
          <a:xfrm>
            <a:off x="4937760" y="3584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</a:rPr>
              <a:t>Sarcasm detection layer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99432" y="3968496"/>
            <a:ext cx="428853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6" name="Shape 54"/>
          <p:cNvSpPr/>
          <p:nvPr/>
        </p:nvSpPr>
        <p:spPr>
          <a:xfrm>
            <a:off x="4663440" y="4041648"/>
            <a:ext cx="201168" cy="201168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0" y="3968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7"/>
                </a:solidFill>
              </a:rPr>
              <a:t>Actionable next-step suggestions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4572000"/>
            <a:ext cx="164592" cy="164592"/>
          </a:xfrm>
          <a:prstGeom prst="ellipse">
            <a:avLst/>
          </a:prstGeom>
          <a:solidFill>
            <a:srgbClr val="00C853"/>
          </a:solidFill>
          <a:ln/>
        </p:spPr>
      </p:sp>
      <p:sp>
        <p:nvSpPr>
          <p:cNvPr id="59" name="Text 57"/>
          <p:cNvSpPr/>
          <p:nvPr/>
        </p:nvSpPr>
        <p:spPr>
          <a:xfrm>
            <a:off x="4800600" y="4544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</a:rPr>
              <a:t>Complete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35040" y="4572000"/>
            <a:ext cx="164592" cy="164592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61" name="Text 59"/>
          <p:cNvSpPr/>
          <p:nvPr/>
        </p:nvSpPr>
        <p:spPr>
          <a:xfrm>
            <a:off x="6263640" y="4544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FC7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28600" y="4572000"/>
            <a:ext cx="4023360" cy="20116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63" name="Text 61"/>
          <p:cNvSpPr/>
          <p:nvPr/>
        </p:nvSpPr>
        <p:spPr>
          <a:xfrm>
            <a:off x="320040" y="45720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9B1"/>
                </a:solidFill>
              </a:rPr>
              <a:t>Built on approved roster: Gemini 2.5 Flash ✓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65" name="Text 6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C7"/>
                </a:solidFill>
              </a:rPr>
              <a:t>SoulSync AI  ·  OpenAImer Track B  ·  Jadavpur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SoulSync AI - Track B</dc:title>
  <dc:subject>PptxGenJS Presentation</dc:subject>
  <dc:creator>PptxGenJS</dc:creator>
  <cp:lastModifiedBy>PptxGenJS</cp:lastModifiedBy>
  <cp:revision>1</cp:revision>
  <dcterms:created xsi:type="dcterms:W3CDTF">2026-04-05T15:21:31Z</dcterms:created>
  <dcterms:modified xsi:type="dcterms:W3CDTF">2026-04-05T15:21:31Z</dcterms:modified>
</cp:coreProperties>
</file>